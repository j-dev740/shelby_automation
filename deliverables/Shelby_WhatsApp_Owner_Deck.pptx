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Shelby × 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C8A8"/>
                </a:solidFill>
                <a:latin typeface="Calibri"/>
              </a:defRPr>
            </a:pPr>
            <a:r>
              <a:t>Phygital Ordering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A080"/>
                </a:solidFill>
                <a:latin typeface="Calibri"/>
              </a:defRPr>
            </a:pPr>
            <a:r>
              <a:t>Same window. Same vibe. Just one less 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303520"/>
            <a:ext cx="2103120" cy="45720"/>
          </a:xfrm>
          <a:prstGeom prst="rect">
            <a:avLst/>
          </a:prstGeom>
          <a:solidFill>
            <a:srgbClr val="C85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8877"/>
                </a:solidFill>
                <a:latin typeface="Calibri"/>
              </a:defRPr>
            </a:pPr>
            <a:r>
              <a:t>Owner Presentation  •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Problem Are We Solving?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Calibri"/>
              </a:defRPr>
            </a:pPr>
            <a:r>
              <a:t>⚠️  Peak-hour congestion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190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The crowd that made you famous is the crowd that's slowing you down. 500+ cups/day through a tiny window.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Calibri"/>
              </a:defRPr>
            </a:pPr>
            <a:r>
              <a:t>⚠️  The Great Disappointment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249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Viral FOMO drives people in, but unannounced 20-minute waits drive negative reviews.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Calibri"/>
              </a:defRPr>
            </a:pPr>
            <a:r>
              <a:t>⚠️  Repetitive questions drain staff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307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"Are you open?" "Vegan milk?" "Do you have buns?" — heard 100 times a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Calibri"/>
              </a:defRPr>
            </a:pPr>
            <a:r>
              <a:t>⚠️  Menu drift / sold-out confusion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365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When Hazelnut runs out, the next 4 customers don't know until they reach the window.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76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392B"/>
                </a:solidFill>
                <a:latin typeface="Calibri"/>
              </a:defRPr>
            </a:pPr>
            <a:r>
              <a:t>⚠️  Rain kills the sidewalk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424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Bengaluru dumps rain, the Fourth Space empties, and you have no way to say "we're still open."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E2C1C"/>
                </a:solidFill>
                <a:latin typeface="Calibri"/>
              </a:defRPr>
            </a:pPr>
            <a:r>
              <a:t>We are not redesigning your café. We are removing one specific bottleneck: verbal order-taking at the counter during peak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Core Idea — One QR, One 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E3F0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65C0"/>
                </a:solidFill>
                <a:latin typeface="Calibri"/>
              </a:defRPr>
            </a:pPr>
            <a:r>
              <a:t>1.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Customer scans QR</a:t>
            </a:r>
            <a:br/>
            <a:r>
              <a:t>at sidewalk / counter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6304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E3F0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65C0"/>
                </a:solidFill>
                <a:latin typeface="Calibri"/>
              </a:defRPr>
            </a:pPr>
            <a:r>
              <a:t>2.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Calibri"/>
              </a:defRPr>
            </a:pPr>
            <a:r>
              <a:t>WhatsApp opens.</a:t>
            </a:r>
            <a:br/>
            <a:r>
              <a:t>Bot greets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 w="25400">
            <a:solidFill>
              <a:srgbClr val="C855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551C"/>
                </a:solidFill>
                <a:latin typeface="Calibri"/>
              </a:defRPr>
            </a:pPr>
            <a:r>
              <a:t>3.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Calibri"/>
              </a:defRPr>
            </a:pPr>
            <a:r>
              <a:t>Pick items, see ETA,</a:t>
            </a:r>
            <a:br/>
            <a:r>
              <a:t>get an order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 w="25400">
            <a:solidFill>
              <a:srgbClr val="6B4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4F3A"/>
                </a:solidFill>
                <a:latin typeface="Calibri"/>
              </a:defRPr>
            </a:pPr>
            <a:r>
              <a:t>4. PREP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Calibri"/>
              </a:defRPr>
            </a:pPr>
            <a:r>
              <a:t>Order appears on</a:t>
            </a:r>
            <a:br/>
            <a:r>
              <a:t>barista's tablet.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46304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DFF5DD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5. 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Calibri"/>
              </a:defRPr>
            </a:pPr>
            <a:r>
              <a:t>"Your order is ready"</a:t>
            </a:r>
            <a:br/>
            <a:r>
              <a:t>WhatsApp notification.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463040"/>
            <a:ext cx="1737360" cy="2560320"/>
          </a:xfrm>
          <a:prstGeom prst="roundRect">
            <a:avLst>
              <a:gd name="adj" fmla="val 5000"/>
            </a:avLst>
          </a:prstGeom>
          <a:solidFill>
            <a:srgbClr val="DFF5DD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1600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6. PICKUP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1031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Calibri"/>
              </a:defRPr>
            </a:pPr>
            <a:r>
              <a:t>Customer steps up</a:t>
            </a:r>
            <a:br/>
            <a:r>
              <a:t>to window. Done.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2C1C"/>
                </a:solidFill>
                <a:latin typeface="Calibri"/>
              </a:defRPr>
            </a:pPr>
            <a:r>
              <a:t>That's the whole product.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Everything else we've designed is about making sure this loop survives the messy reality of a real café — payment failures, sold-out items, rush hours, rain, internet outages, and customers who just want to talk to a human.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Most Important Promise: Two Lanes, One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65C0"/>
                </a:solidFill>
                <a:latin typeface="Calibri"/>
              </a:defRPr>
            </a:pPr>
            <a:r>
              <a:t>📱  DIGITAL LANE (new)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QR scan at sidewalk / counter / Instagram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WhatsApp chat with Shelby bot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Order placed with honest ETA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Wait anywhere in peace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📲 "Your order is ready!"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551C"/>
                </a:solidFill>
                <a:latin typeface="Calibri"/>
              </a:defRPr>
            </a:pPr>
            <a:r>
              <a:t>🧍  PHYSICAL LANE (unchanged)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Walk up to the window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Verbal order to barista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Pay cash or UPI directly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Wait at the window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Pick up when called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669280"/>
            <a:ext cx="5760720" cy="82296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76072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🏠  Both lanes converge at the PICKUP WINDOW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Physical Café Does Not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2C1C"/>
                </a:solidFill>
                <a:latin typeface="Calibri"/>
              </a:defRPr>
            </a:pPr>
            <a:r>
              <a:t>Cash-only customers?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Walk up to the window like always.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2C1C"/>
                </a:solidFill>
                <a:latin typeface="Calibri"/>
              </a:defRPr>
            </a:pPr>
            <a:r>
              <a:t>No WhatsApp?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77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Walk up to the window like always.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0040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2C1C"/>
                </a:solidFill>
                <a:latin typeface="Calibri"/>
              </a:defRPr>
            </a:pPr>
            <a:r>
              <a:t>Internet drops?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Walk up to the window like always.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1480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2C1C"/>
                </a:solidFill>
                <a:latin typeface="Calibri"/>
              </a:defRPr>
            </a:pPr>
            <a:r>
              <a:t>Just wants to chat with the barista?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206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Walk up to the window like always.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02920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20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E2C1C"/>
                </a:solidFill>
                <a:latin typeface="Calibri"/>
              </a:defRPr>
            </a:pPr>
            <a:r>
              <a:t>Prefers the old way?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120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Walk up to the window like always.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551C"/>
                </a:solidFill>
                <a:latin typeface="Calibri"/>
              </a:defRPr>
            </a:pPr>
            <a:r>
              <a:t>The WhatsApp lane is additive. It thins the crowd. It never replaces how Shelby works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Promise #1: Honest Wait Times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5720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Kitchen Load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the Bot Tells the Customer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&lt; 5 orders in prep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"Ready in ~8 minutes"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Quick, happy customer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5–15 orders in prep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"Ready in ~10–12 minutes"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Realistic expectation set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&gt; 15 orders (rush)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"Rush hour — ready in 18–22 min"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surprise, no disappointment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840480"/>
            <a:ext cx="10332720" cy="1371600"/>
          </a:xfrm>
          <a:prstGeom prst="roundRect">
            <a:avLst>
              <a:gd name="adj" fmla="val 4000"/>
            </a:avLst>
          </a:prstGeom>
          <a:solidFill>
            <a:srgbClr val="D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0233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Calibri"/>
              </a:defRPr>
            </a:pPr>
            <a:r>
              <a:t>"The Great Disappointment" is impossible.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  <a:latin typeface="Calibri"/>
              </a:defRPr>
            </a:pPr>
            <a:r>
              <a:t>We tell people the truth before they pay. They agree to the wait. No surprise 25-minute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86400"/>
            <a:ext cx="1033272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57784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The thresholds (5 / 15) are dials you can tune on the dashboard — no engineer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Promise #2: Whole-Order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D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✅ 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Customer orders: 1 Coffee + 1 Korean Bun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Coffee is ready first (4 min)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Coffee HELD — bun still cooking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Bun ready (2 more min)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Staff taps READY (whole order assembled)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ONE ping: "Your order is ready!"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Calibri"/>
              </a:defRPr>
            </a:pPr>
            <a:r>
              <a:t>Customer walks to window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FF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❌  Why NOT per-item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0392B"/>
                </a:solidFill>
                <a:latin typeface="Calibri"/>
              </a:defRPr>
            </a:pPr>
            <a:r>
              <a:t>Customer crowds window for coffee</a:t>
            </a:r>
          </a:p>
          <a:p>
            <a:pPr>
              <a:spcAft>
                <a:spcPts val="600"/>
              </a:spcAft>
              <a:defRPr sz="1500">
                <a:solidFill>
                  <a:srgbClr val="C0392B"/>
                </a:solidFill>
                <a:latin typeface="Calibri"/>
              </a:defRPr>
            </a:pPr>
            <a:r>
              <a:t>Waits 5 min for bun to arrive</a:t>
            </a:r>
          </a:p>
          <a:p>
            <a:pPr>
              <a:spcAft>
                <a:spcPts val="600"/>
              </a:spcAft>
              <a:defRPr sz="1500">
                <a:solidFill>
                  <a:srgbClr val="C0392B"/>
                </a:solidFill>
                <a:latin typeface="Calibri"/>
              </a:defRPr>
            </a:pPr>
            <a:r>
              <a:t>Blocks the next customer</a:t>
            </a:r>
          </a:p>
          <a:p>
            <a:pPr>
              <a:spcAft>
                <a:spcPts val="600"/>
              </a:spcAft>
              <a:defRPr sz="1500">
                <a:solidFill>
                  <a:srgbClr val="C0392B"/>
                </a:solidFill>
                <a:latin typeface="Calibri"/>
              </a:defRPr>
            </a:pPr>
            <a:r>
              <a:t>Staff manages half-pickups</a:t>
            </a:r>
          </a:p>
          <a:p>
            <a:pPr>
              <a:spcAft>
                <a:spcPts val="600"/>
              </a:spcAft>
              <a:defRPr sz="1500">
                <a:solidFill>
                  <a:srgbClr val="C0392B"/>
                </a:solidFill>
                <a:latin typeface="Calibri"/>
              </a:defRPr>
            </a:pPr>
            <a:r>
              <a:t>Defeats First-Come-First-Serve</a:t>
            </a:r>
          </a:p>
          <a:p>
            <a:pPr>
              <a:spcAft>
                <a:spcPts val="600"/>
              </a:spcAft>
              <a:defRPr sz="1500">
                <a:solidFill>
                  <a:srgbClr val="C0392B"/>
                </a:solidFill>
                <a:latin typeface="Calibri"/>
              </a:defRPr>
            </a:pPr>
            <a:r>
              <a:t>More chaos, not less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Promise #3: Five Kill Switches You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🛑  Item Toggle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Hazelnut syrup is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371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One tap → gone from WhatsApp menu instantly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☔  Rain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Bengaluru rain starts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774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Bot tells everyone: "we're still open, grab an umbrella!"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D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⏱️  ETA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Rush feels heavier than usual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383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Push ETAs longer — manage expectations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FF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⏸️  Pause Digital 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Kitchen is in chaos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3891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Bot says: "Walk to the window" — total fallback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0972800" cy="868680"/>
          </a:xfrm>
          <a:prstGeom prst="roundRect">
            <a:avLst>
              <a:gd name="adj" fmla="val 3000"/>
            </a:avLst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🤝  Manual 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394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Chat got weird / complex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3949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Take over the conversation yourself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551C"/>
                </a:solidFill>
                <a:latin typeface="Calibri"/>
              </a:defRPr>
            </a:pPr>
            <a:r>
              <a:t>No engineer phone call required for any operational lever.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Promise #4: The System Can Break. Your Café Won't.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601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If This Breaks...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This Still Works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Internet goes down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Walk-in counter (verbal orders, cash/UPI)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WhatsApp provider outage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Walk-in counter + orders queue and replay when back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Razorpay / UPI fails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"Pay at counter" is the default anyway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/ FAQ engine crashes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Bot falls back to staff handoff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Dashboard goes offline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Staff takes verbal orders; queued orders replay on return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Customer taps Confirm 3x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Idempotency → ONE order created, never three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0" y="5303520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53949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☕  Coffee never stops being made.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Promise #5: No AI In Your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AI is used for ONE thing only: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6304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answering FAQs from your approved knowledge 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103327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Every price: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3172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calculated by deterministic database math. Always.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103327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Every total: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0040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calculated by deterministic database math. Always.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77640"/>
            <a:ext cx="103327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Every availability check: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0690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happens TWICE — when added to cart AND at confirmation.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46320"/>
            <a:ext cx="103327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37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E2C1C"/>
                </a:solidFill>
                <a:latin typeface="Calibri"/>
              </a:defRPr>
            </a:pPr>
            <a:r>
              <a:t>The system will never: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9377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invent a ₹350 Hazelnut Cold Coffee.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60720"/>
            <a:ext cx="10332720" cy="731520"/>
          </a:xfrm>
          <a:prstGeom prst="roundRect">
            <a:avLst>
              <a:gd name="adj" fmla="val 4000"/>
            </a:avLst>
          </a:prstGeom>
          <a:solidFill>
            <a:srgbClr val="FF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AI handles conversations. Deterministic code handles money. These two systems never cross.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Your Menu — Digitized from the Boards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9601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Items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 Range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Milk Tea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Rose, Ginger, Normal, Masala, Vanilla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₹30–₹40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Black Tea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Mint Black, Lemon Honey, Clove Special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₹25–₹35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Milk Coffee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Shelby Signature, Chocolate, Vanilla, Caramel, Hazelnut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₹50–₹70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Black Coffee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Black, Jaggery Blast, Cinnamon-yana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₹25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Special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Horlicks, Boost, Badam Milk, Hot Chocolate, +Rocks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₹35–₹150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840480"/>
          <a:ext cx="9601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Items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 Range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Iced Tea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Lemon, Peach, Passion Fruit, Elder Flower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₹80–₹95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Cold Coffee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Premium, Hazelnut, Vanilla, Caramel, Irish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₹150–₹180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Mojito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Watermelon, Passion Fruit, Strawberry, Orange, Mango, Virgin, Kala Khatta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₹90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Soda / Smoothy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Lime Soda, Mango Pulpy Smoothy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₹50–₹120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Bakery (TBC)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Korean Cream Cheese Bun — Classic / Mushroom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Must-try shortcut on WhatsApp: Coffees • Hot Chocolate • Lemon Honey (mirrors your board)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Day 1 of Pilot — What Literally Changes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Pilot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During Pilot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Stand in line, guess wait time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Optional: scan QR, see ETA, get pinged when ready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Order-taker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Verbal at window, repeats menu 100×/day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Verbal only for walk-ins; FAQ deflected to bot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Baristas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Hear orders shouted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See orders on tablet, batch tea/coffee naturally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Owner (you)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Guess where the bottleneck is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Dashboard: counter time, ETA delta, channel split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Walk-ins / cash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Normal service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UNCHANGED — walk up and order exactly like today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C8551C"/>
                </a:solidFill>
                <a:latin typeface="Calibri"/>
              </a:defRPr>
            </a:pPr>
            <a:r>
              <a:t>Only physical change: add a small QR sticker that says "Skip the line — order on WhatsApp"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4-Week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97480" cy="4754880"/>
          </a:xfrm>
          <a:prstGeom prst="roundRect">
            <a:avLst>
              <a:gd name="adj" fmla="val 4000"/>
            </a:avLst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E2C1C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551C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Calibri"/>
              </a:defRPr>
            </a:pPr>
            <a:r>
              <a:t>Behind the scenes: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Schema, webhooks, event logging,</a:t>
            </a:r>
            <a:br/>
            <a:r>
              <a:t>dashboard shell +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What you see: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Nothing on the floor yet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280160"/>
            <a:ext cx="2697480" cy="475488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173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E2C1C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83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551C"/>
                </a:solidFill>
                <a:latin typeface="Calibri"/>
              </a:defRPr>
            </a:pPr>
            <a:r>
              <a:t>Order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Calibri"/>
              </a:defRPr>
            </a:pPr>
            <a:r>
              <a:t>Behind the scenes: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6032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Menu browse, cart, order creation,</a:t>
            </a:r>
            <a:br/>
            <a:r>
              <a:t>Kanban + realtime + toggles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206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What you see: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480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Internal testing with</a:t>
            </a:r>
            <a:br/>
            <a:r>
              <a:t>fake 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2697480" cy="4754880"/>
          </a:xfrm>
          <a:prstGeom prst="roundRect">
            <a:avLst>
              <a:gd name="adj" fmla="val 4000"/>
            </a:avLst>
          </a:prstGeom>
          <a:solidFill>
            <a:srgbClr val="D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E2C1C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83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551C"/>
                </a:solidFill>
                <a:latin typeface="Calibri"/>
              </a:defRPr>
            </a:pPr>
            <a:r>
              <a:t>AI + Hardening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86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Calibri"/>
              </a:defRPr>
            </a:pPr>
            <a:r>
              <a:t>Behind the scenes: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6032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FAQ retrieval, handoff, templates,</a:t>
            </a:r>
            <a:br/>
            <a:r>
              <a:t>idempotency + retries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What you see: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Shadow pilot: staff watches</a:t>
            </a:r>
            <a:br/>
            <a:r>
              <a:t>dashboard during off-peak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280160"/>
            <a:ext cx="2697480" cy="4754880"/>
          </a:xfrm>
          <a:prstGeom prst="roundRect">
            <a:avLst>
              <a:gd name="adj" fmla="val 4000"/>
            </a:avLst>
          </a:prstGeom>
          <a:solidFill>
            <a:srgbClr val="FF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14173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E2C1C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17830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551C"/>
                </a:solidFill>
                <a:latin typeface="Calibri"/>
              </a:defRPr>
            </a:pPr>
            <a:r>
              <a:t>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2860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Calibri"/>
              </a:defRPr>
            </a:pPr>
            <a:r>
              <a:t>Behind the scenes: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56032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QR sticker goes up.</a:t>
            </a:r>
            <a:br/>
            <a:r>
              <a:t>Weekend peak window.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2062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What you see: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48056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We sit beside you</a:t>
            </a:r>
            <a:br/>
            <a:r>
              <a:t>and watch it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We Measure Success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 to You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Counter dwell time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−25%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Less crowding, fewer encroachment complaints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Peak orders via WhatsApp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≥20% by week 4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 adoption, not a toy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WhatsApp order error rate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&lt;3%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Trust in the system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Bot response time (median)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&lt;10 seconds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Customers feel attended to instantly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FAQ auto-resolved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≥70%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Staff freed for making coffee, not answering questions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ETA promised vs actual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≤±20%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 reputation protected from "Great Disappointment"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8551C"/>
                </a:solidFill>
                <a:latin typeface="Calibri"/>
              </a:defRPr>
            </a:pPr>
            <a:r>
              <a:t>If any metric misses after 2 weeks of pilot, we adjust before scaling — not after.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Pilot Running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37160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(approx)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WhatsApp BSP (Interakt / AiSensy)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₹1,000 – ₹2,500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WhatsApp conversation fees (Meta)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₹500 – ₹1,500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Supabase (DB + Realtime)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Free tier covers pilot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Hosting (Vercel + Render)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Free / minimal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LLM for FAQ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₹500 – ₹1,000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Razorpay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2% per txn (optional, Phase 3)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TOTAL (pilot)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₹2,000 – ₹5,000 / month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Unit economics improve as Shelby grows (stack scales linearly with volume).</a:t>
            </a:r>
            <a:br/>
            <a:r>
              <a:t>Excludes development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Risks We Are Carrying (No Surprises)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8580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Plan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Kitchen is the real bottleneck, not counter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We measure both separately. Channel shift relieves counter regardless.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Customers don't adopt WhatsApp ordering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Target is only 20% in week 4 — small, then grow.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Staff resistance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Dashboard mirrors the existing assembly line. Train 1 person first.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gives a wrong answer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Retrieval-only from approved docs. Low confidence = human handoff.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Fake / no-show orders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Cart cap ₹200 unpaid. Above that = digital pay required.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Provider lock-in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Adapter layer → swap providers in days, not weeks.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We Are Explicitly NOT Doing (Yet)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Delivery (Swiggy/Zomato style)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Not for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1033272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Loyalty programs / coupons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Not for MVP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1033272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Marketing broadcasts to past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Phase 2 (needs opt-in compliance)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49040"/>
            <a:ext cx="10332720" cy="685800"/>
          </a:xfrm>
          <a:prstGeom prst="roundRect">
            <a:avLst>
              <a:gd name="adj" fmla="val 3000"/>
            </a:avLst>
          </a:prstGeom>
          <a:solidFill>
            <a:srgbClr val="FF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Full POS replacement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Never — this complements, doesn't replace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10332720" cy="685800"/>
          </a:xfrm>
          <a:prstGeom prst="roundRect">
            <a:avLst>
              <a:gd name="adj" fmla="val 3000"/>
            </a:avLst>
          </a:prstGeom>
          <a:solidFill>
            <a:srgbClr val="FF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Voice ordering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Never — defeats the calm of WhatsApp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394960"/>
            <a:ext cx="1033272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Multi-language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7D32"/>
                </a:solidFill>
                <a:latin typeface="Calibri"/>
              </a:defRPr>
            </a:pPr>
            <a:r>
              <a:t>Smaller MVP = clearer pilot = faster learning = less wasted money.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Deeper Bet: This Is Also a Data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4475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📊  Which items sell out fastest — and exactly when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103327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2199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⏰  Which hours are your real bottlenecks (not guesses — data)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103327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99923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🔄  Which customers come back (by phone, anonymized)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03320"/>
            <a:ext cx="103327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7764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❓  Which questions to put on a permanent sign vs. answer in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60"/>
            <a:ext cx="103327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5371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🍞  Whether the Korean Bun is worth keeping (or pivoting to the next trend item)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257800"/>
            <a:ext cx="103327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33095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Calibri"/>
              </a:defRPr>
            </a:pPr>
            <a:r>
              <a:t>💰  Revenue per peak hour from the digital lane vs. walk-in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551C"/>
                </a:solidFill>
                <a:latin typeface="Calibri"/>
              </a:defRPr>
            </a:pPr>
            <a:r>
              <a:t>You can't get any of this from a verbal counter today.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2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Decision Table — Your Sign-Off to Start Week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6576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Your Call</a:t>
                      </a:r>
                    </a:p>
                  </a:txBody>
                  <a:tcPr marL="76200" marR="76200" marT="50800" marB="50800">
                    <a:solidFill>
                      <a:srgbClr val="3E2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Build with WhatsApp Cloud API via BSP?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Yes (Interakt / AiSensy)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Pilot: Pickup + FAQ + Pay-at-counter only?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Add Razorpay digital payments in pilot?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(add in Phase 3)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Add dine-in table ordering in pilot?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(add in Phase 1.5)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☐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Cart cap for unpaid orders?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₹200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☐ Tune: ___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Rush ETA threshold?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&gt;15 orders in PREPARING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☐ Tune: ___</a:t>
                      </a:r>
                    </a:p>
                  </a:txBody>
                  <a:tcPr marL="76200" marR="76200" marT="50800" marB="50800"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Korean Buns on bot menu from day 1?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Yes if available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☐ Confirm price: ___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286000" y="5303520"/>
            <a:ext cx="7315200" cy="9144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5394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If you nod on these defaults, Week 1 begins.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0C8A8"/>
                </a:solidFill>
                <a:latin typeface="Calibri"/>
              </a:defRPr>
            </a:pPr>
            <a:r>
              <a:t>The One Question to Ask: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"What's the smallest thing we can do</a:t>
            </a:r>
            <a:br/>
            <a:r>
              <a:t>in Week 4 to prove this works?"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40480"/>
            <a:ext cx="9418320" cy="1828800"/>
          </a:xfrm>
          <a:prstGeom prst="roundRect">
            <a:avLst>
              <a:gd name="adj" fmla="val 4000"/>
            </a:avLst>
          </a:prstGeom>
          <a:solidFill>
            <a:srgbClr val="50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023360"/>
            <a:ext cx="8869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C8A8"/>
                </a:solidFill>
                <a:latin typeface="Calibri"/>
              </a:defRPr>
            </a:pPr>
            <a:r>
              <a:t>Stick the QR up at 6pm Saturday. Watch the tablet.</a:t>
            </a:r>
            <a:br/>
            <a:r>
              <a:t>If even 30 of the 500 cups that night come through WhatsApp,</a:t>
            </a:r>
            <a:br/>
            <a:r>
              <a:t>with &lt;3% errors and an honest ETA — we have a working channel.</a:t>
            </a:r>
            <a:br/>
            <a:br/>
            <a:r>
              <a:t>Then we scale it across weekday peaks, evenings, dine-in, payments.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6035040"/>
            <a:ext cx="2103120" cy="45720"/>
          </a:xfrm>
          <a:prstGeom prst="rect">
            <a:avLst/>
          </a:prstGeom>
          <a:solidFill>
            <a:srgbClr val="C85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8877"/>
                </a:solidFill>
                <a:latin typeface="Calibri"/>
              </a:defRPr>
            </a:pPr>
            <a:r>
              <a:t>Shelby × WhatsApp  •  Same window. Same vibe. Just one less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